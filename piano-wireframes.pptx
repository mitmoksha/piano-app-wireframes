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34640" y="201168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8A"/>
                </a:solidFill>
              </a:rPr>
              <a:t>老师端 · 首页 Dashboard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34640" y="566928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机构管理员/老师登录后看到的主要界面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274320"/>
            <a:ext cx="2011680" cy="438912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54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274320"/>
            <a:ext cx="2011680" cy="50292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3108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首页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5486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ACCEE"/>
                </a:solidFill>
              </a:rPr>
              <a:t>星光钢琴机构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47472" y="868680"/>
            <a:ext cx="548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8961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8A"/>
                </a:solidFill>
              </a:rPr>
              <a:t>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" y="114300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</a:rPr>
              <a:t>今日课程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969264" y="868680"/>
            <a:ext cx="548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8961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8A"/>
                </a:solidFill>
              </a:rPr>
              <a:t>23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9264" y="114300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</a:rPr>
              <a:t>学员总数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1591056" y="868680"/>
            <a:ext cx="548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91056" y="8961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D4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91056" y="114300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</a:rPr>
              <a:t>课时不足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347472" y="1463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</a:rPr>
              <a:t>今日课程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7472" y="1709928"/>
            <a:ext cx="64008" cy="64008"/>
          </a:xfrm>
          <a:prstGeom prst="roundRect">
            <a:avLst>
              <a:gd name="adj" fmla="val 714286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6916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</a:rPr>
              <a:t>小明 · 钢琴基础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" y="1856232"/>
            <a:ext cx="1463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8"/>
                </a:solidFill>
              </a:rPr>
              <a:t>14:00 - 14:45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347472" y="2185416"/>
            <a:ext cx="1737360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2276856"/>
            <a:ext cx="64008" cy="64008"/>
          </a:xfrm>
          <a:prstGeom prst="roundRect">
            <a:avLst>
              <a:gd name="adj" fmla="val 714286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25856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</a:rPr>
              <a:t>小红 · 考级班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7200" y="2423160"/>
            <a:ext cx="1463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8"/>
                </a:solidFill>
              </a:rPr>
              <a:t>15:00 - 15:45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1627632" y="2276856"/>
            <a:ext cx="530352" cy="164592"/>
          </a:xfrm>
          <a:prstGeom prst="roundRect">
            <a:avLst>
              <a:gd name="adj" fmla="val 44444"/>
            </a:avLst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27632" y="2276856"/>
            <a:ext cx="5303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56404"/>
                </a:solidFill>
              </a:rPr>
              <a:t>课时不足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347472" y="2752344"/>
            <a:ext cx="1737360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2843784"/>
            <a:ext cx="64008" cy="64008"/>
          </a:xfrm>
          <a:prstGeom prst="roundRect">
            <a:avLst>
              <a:gd name="adj" fmla="val 714286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82549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</a:rPr>
              <a:t>小李 · 钢琴基础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7200" y="2990088"/>
            <a:ext cx="1463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8"/>
                </a:solidFill>
              </a:rPr>
              <a:t>18:00 - 18:45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256032" y="425196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6499" y="4306824"/>
            <a:ext cx="241402" cy="146304"/>
          </a:xfrm>
          <a:prstGeom prst="roundRect">
            <a:avLst>
              <a:gd name="adj" fmla="val 25000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8211" y="4480560"/>
            <a:ext cx="281635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C5F8A"/>
                </a:solidFill>
              </a:rPr>
              <a:t>首页</a:t>
            </a:r>
            <a:endParaRPr lang="en-US" sz="550" dirty="0"/>
          </a:p>
        </p:txBody>
      </p:sp>
      <p:sp>
        <p:nvSpPr>
          <p:cNvPr id="35" name="Shape 33"/>
          <p:cNvSpPr/>
          <p:nvPr/>
        </p:nvSpPr>
        <p:spPr>
          <a:xfrm>
            <a:off x="738835" y="4306824"/>
            <a:ext cx="241402" cy="146304"/>
          </a:xfrm>
          <a:prstGeom prst="roundRect">
            <a:avLst>
              <a:gd name="adj" fmla="val 25000"/>
            </a:avLst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0547" y="4480560"/>
            <a:ext cx="281635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课表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1141171" y="4306824"/>
            <a:ext cx="241402" cy="146304"/>
          </a:xfrm>
          <a:prstGeom prst="roundRect">
            <a:avLst>
              <a:gd name="adj" fmla="val 25000"/>
            </a:avLst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22883" y="4480560"/>
            <a:ext cx="281635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学员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1543507" y="4306824"/>
            <a:ext cx="241402" cy="146304"/>
          </a:xfrm>
          <a:prstGeom prst="roundRect">
            <a:avLst>
              <a:gd name="adj" fmla="val 25000"/>
            </a:avLst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25219" y="4480560"/>
            <a:ext cx="281635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通知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1945843" y="4306824"/>
            <a:ext cx="241402" cy="146304"/>
          </a:xfrm>
          <a:prstGeom prst="roundRect">
            <a:avLst>
              <a:gd name="adj" fmla="val 25000"/>
            </a:avLst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27555" y="4480560"/>
            <a:ext cx="281635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我的</a:t>
            </a:r>
            <a:endParaRPr lang="en-US" sz="550" dirty="0"/>
          </a:p>
        </p:txBody>
      </p:sp>
      <p:sp>
        <p:nvSpPr>
          <p:cNvPr id="43" name="Text 41"/>
          <p:cNvSpPr/>
          <p:nvPr/>
        </p:nvSpPr>
        <p:spPr>
          <a:xfrm>
            <a:off x="256032" y="473659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老师端 · 首页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834640" y="868680"/>
            <a:ext cx="6035040" cy="274320"/>
          </a:xfrm>
          <a:prstGeom prst="roundRect">
            <a:avLst>
              <a:gd name="adj" fmla="val 16667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4640" y="8686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页面模块说明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834640" y="1143000"/>
            <a:ext cx="60350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71800" y="125272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5F8A"/>
                </a:solidFill>
              </a:rPr>
              <a:t>首页 Dashboard：</a:t>
            </a:r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今日课程数、学员总数、课时不足学员数（红色高亮提醒）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971800" y="158191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5F8A"/>
                </a:solidFill>
              </a:rPr>
              <a:t>课表：</a:t>
            </a:r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日历视图，按天展示课程，点击新增排课或查看课程详情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971800" y="191109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5F8A"/>
                </a:solidFill>
              </a:rPr>
              <a:t>学员：</a:t>
            </a:r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学员列表，录入学员、查看详情、管理课时包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971800" y="22402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5F8A"/>
                </a:solidFill>
              </a:rPr>
              <a:t>通知：</a:t>
            </a:r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发送机构公告，选择全体广播或指定老师的学员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971800" y="256946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5F8A"/>
                </a:solidFill>
              </a:rPr>
              <a:t>我的：</a:t>
            </a:r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机构信息、数据导出 CSV、修改密码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834640" y="3200400"/>
            <a:ext cx="6035040" cy="274320"/>
          </a:xfrm>
          <a:prstGeom prst="roundRect">
            <a:avLst>
              <a:gd name="adj" fmla="val 16667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34640" y="3200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TabBar 结构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834640" y="3474720"/>
            <a:ext cx="603504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71800" y="352044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首页  ·  课表  ·  学员  ·  通知  ·  我的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34640" y="201168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8A"/>
                </a:solidFill>
              </a:rPr>
              <a:t>老师端 · 课表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34640" y="566928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排课、签到的核心操作入口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274320"/>
            <a:ext cx="2011680" cy="438912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54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274320"/>
            <a:ext cx="2011680" cy="50292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3108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课表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75104" y="38404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75104" y="3657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8A"/>
                </a:solidFill>
              </a:rPr>
              <a:t>+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822960"/>
            <a:ext cx="224681" cy="384048"/>
          </a:xfrm>
          <a:prstGeom prst="roundRect">
            <a:avLst>
              <a:gd name="adj" fmla="val 2441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841248"/>
            <a:ext cx="22468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一</a:t>
            </a:r>
            <a:endParaRPr lang="en-US" sz="550" dirty="0"/>
          </a:p>
        </p:txBody>
      </p:sp>
      <p:sp>
        <p:nvSpPr>
          <p:cNvPr id="12" name="Text 10"/>
          <p:cNvSpPr/>
          <p:nvPr/>
        </p:nvSpPr>
        <p:spPr>
          <a:xfrm>
            <a:off x="347472" y="987552"/>
            <a:ext cx="22468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</a:rPr>
              <a:t>7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729" y="822960"/>
            <a:ext cx="224681" cy="384048"/>
          </a:xfrm>
          <a:prstGeom prst="roundRect">
            <a:avLst>
              <a:gd name="adj" fmla="val 2441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729" y="841248"/>
            <a:ext cx="22468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二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608729" y="987552"/>
            <a:ext cx="22468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</a:rPr>
              <a:t>8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69986" y="822960"/>
            <a:ext cx="224681" cy="384048"/>
          </a:xfrm>
          <a:prstGeom prst="roundRect">
            <a:avLst>
              <a:gd name="adj" fmla="val 2441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9986" y="841248"/>
            <a:ext cx="22468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三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869986" y="987552"/>
            <a:ext cx="22468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</a:rPr>
              <a:t>9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131243" y="822960"/>
            <a:ext cx="224681" cy="384048"/>
          </a:xfrm>
          <a:prstGeom prst="roundRect">
            <a:avLst>
              <a:gd name="adj" fmla="val 2441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1243" y="822960"/>
            <a:ext cx="224681" cy="384048"/>
          </a:xfrm>
          <a:prstGeom prst="roundRect">
            <a:avLst>
              <a:gd name="adj" fmla="val 20349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1243" y="841248"/>
            <a:ext cx="22468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AACCEE"/>
                </a:solidFill>
              </a:rPr>
              <a:t>四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1131243" y="987552"/>
            <a:ext cx="22468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392501" y="822960"/>
            <a:ext cx="224681" cy="384048"/>
          </a:xfrm>
          <a:prstGeom prst="roundRect">
            <a:avLst>
              <a:gd name="adj" fmla="val 2441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92501" y="841248"/>
            <a:ext cx="22468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五</a:t>
            </a:r>
            <a:endParaRPr lang="en-US" sz="550" dirty="0"/>
          </a:p>
        </p:txBody>
      </p:sp>
      <p:sp>
        <p:nvSpPr>
          <p:cNvPr id="25" name="Text 23"/>
          <p:cNvSpPr/>
          <p:nvPr/>
        </p:nvSpPr>
        <p:spPr>
          <a:xfrm>
            <a:off x="1392501" y="987552"/>
            <a:ext cx="22468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</a:rPr>
              <a:t>11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53758" y="822960"/>
            <a:ext cx="224681" cy="384048"/>
          </a:xfrm>
          <a:prstGeom prst="roundRect">
            <a:avLst>
              <a:gd name="adj" fmla="val 2441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53758" y="841248"/>
            <a:ext cx="22468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六</a:t>
            </a:r>
            <a:endParaRPr lang="en-US" sz="550" dirty="0"/>
          </a:p>
        </p:txBody>
      </p:sp>
      <p:sp>
        <p:nvSpPr>
          <p:cNvPr id="28" name="Text 26"/>
          <p:cNvSpPr/>
          <p:nvPr/>
        </p:nvSpPr>
        <p:spPr>
          <a:xfrm>
            <a:off x="1653758" y="987552"/>
            <a:ext cx="22468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</a:rPr>
              <a:t>12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915015" y="822960"/>
            <a:ext cx="224681" cy="384048"/>
          </a:xfrm>
          <a:prstGeom prst="roundRect">
            <a:avLst>
              <a:gd name="adj" fmla="val 2441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15015" y="841248"/>
            <a:ext cx="22468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日</a:t>
            </a:r>
            <a:endParaRPr lang="en-US" sz="550" dirty="0"/>
          </a:p>
        </p:txBody>
      </p:sp>
      <p:sp>
        <p:nvSpPr>
          <p:cNvPr id="31" name="Text 29"/>
          <p:cNvSpPr/>
          <p:nvPr/>
        </p:nvSpPr>
        <p:spPr>
          <a:xfrm>
            <a:off x="1915015" y="987552"/>
            <a:ext cx="22468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</a:rPr>
              <a:t>13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47472" y="1280160"/>
            <a:ext cx="45720" cy="384048"/>
          </a:xfrm>
          <a:prstGeom prst="rect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3192" y="128016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1316736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88888"/>
                </a:solidFill>
              </a:rPr>
              <a:t>小明 · 钢琴基础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57200" y="1481328"/>
            <a:ext cx="1508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2C41A"/>
                </a:solidFill>
              </a:rPr>
              <a:t>14:00  已完成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347472" y="1810512"/>
            <a:ext cx="45720" cy="38404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3192" y="1810512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1847088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</a:rPr>
              <a:t>小红 · 考级班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7200" y="2011680"/>
            <a:ext cx="1508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8"/>
                </a:solidFill>
              </a:rPr>
              <a:t>15:00  待上课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347472" y="2340864"/>
            <a:ext cx="45720" cy="38404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93192" y="2340864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23774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</a:rPr>
              <a:t>小李 · 钢琴基础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57200" y="2542032"/>
            <a:ext cx="1508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8"/>
                </a:solidFill>
              </a:rPr>
              <a:t>18:00  待上课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256032" y="425196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6499" y="4306824"/>
            <a:ext cx="241402" cy="146304"/>
          </a:xfrm>
          <a:prstGeom prst="roundRect">
            <a:avLst>
              <a:gd name="adj" fmla="val 25000"/>
            </a:avLst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8211" y="4480560"/>
            <a:ext cx="281635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首页</a:t>
            </a:r>
            <a:endParaRPr lang="en-US" sz="550" dirty="0"/>
          </a:p>
        </p:txBody>
      </p:sp>
      <p:sp>
        <p:nvSpPr>
          <p:cNvPr id="47" name="Shape 45"/>
          <p:cNvSpPr/>
          <p:nvPr/>
        </p:nvSpPr>
        <p:spPr>
          <a:xfrm>
            <a:off x="738835" y="4306824"/>
            <a:ext cx="241402" cy="146304"/>
          </a:xfrm>
          <a:prstGeom prst="roundRect">
            <a:avLst>
              <a:gd name="adj" fmla="val 25000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0547" y="4480560"/>
            <a:ext cx="281635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C5F8A"/>
                </a:solidFill>
              </a:rPr>
              <a:t>课表</a:t>
            </a:r>
            <a:endParaRPr lang="en-US" sz="550" dirty="0"/>
          </a:p>
        </p:txBody>
      </p:sp>
      <p:sp>
        <p:nvSpPr>
          <p:cNvPr id="49" name="Shape 47"/>
          <p:cNvSpPr/>
          <p:nvPr/>
        </p:nvSpPr>
        <p:spPr>
          <a:xfrm>
            <a:off x="1141171" y="4306824"/>
            <a:ext cx="241402" cy="146304"/>
          </a:xfrm>
          <a:prstGeom prst="roundRect">
            <a:avLst>
              <a:gd name="adj" fmla="val 25000"/>
            </a:avLst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22883" y="4480560"/>
            <a:ext cx="281635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学员</a:t>
            </a:r>
            <a:endParaRPr lang="en-US" sz="550" dirty="0"/>
          </a:p>
        </p:txBody>
      </p:sp>
      <p:sp>
        <p:nvSpPr>
          <p:cNvPr id="51" name="Shape 49"/>
          <p:cNvSpPr/>
          <p:nvPr/>
        </p:nvSpPr>
        <p:spPr>
          <a:xfrm>
            <a:off x="1543507" y="4306824"/>
            <a:ext cx="241402" cy="146304"/>
          </a:xfrm>
          <a:prstGeom prst="roundRect">
            <a:avLst>
              <a:gd name="adj" fmla="val 25000"/>
            </a:avLst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525219" y="4480560"/>
            <a:ext cx="281635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通知</a:t>
            </a:r>
            <a:endParaRPr lang="en-US" sz="550" dirty="0"/>
          </a:p>
        </p:txBody>
      </p:sp>
      <p:sp>
        <p:nvSpPr>
          <p:cNvPr id="53" name="Shape 51"/>
          <p:cNvSpPr/>
          <p:nvPr/>
        </p:nvSpPr>
        <p:spPr>
          <a:xfrm>
            <a:off x="1945843" y="4306824"/>
            <a:ext cx="241402" cy="146304"/>
          </a:xfrm>
          <a:prstGeom prst="roundRect">
            <a:avLst>
              <a:gd name="adj" fmla="val 25000"/>
            </a:avLst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27555" y="4480560"/>
            <a:ext cx="281635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我的</a:t>
            </a:r>
            <a:endParaRPr lang="en-US" sz="550" dirty="0"/>
          </a:p>
        </p:txBody>
      </p:sp>
      <p:sp>
        <p:nvSpPr>
          <p:cNvPr id="55" name="Text 53"/>
          <p:cNvSpPr/>
          <p:nvPr/>
        </p:nvSpPr>
        <p:spPr>
          <a:xfrm>
            <a:off x="256032" y="473659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老师端 · 课表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834640" y="868680"/>
            <a:ext cx="6035040" cy="274320"/>
          </a:xfrm>
          <a:prstGeom prst="roundRect">
            <a:avLst>
              <a:gd name="adj" fmla="val 16667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34640" y="8686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排课操作流程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834640" y="1143000"/>
            <a:ext cx="60350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971800" y="1271016"/>
            <a:ext cx="201168" cy="201168"/>
          </a:xfrm>
          <a:prstGeom prst="ellipse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71800" y="12710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3236976" y="12527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点击右上角 + 新增课程，选择单次课或周期课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971800" y="1673352"/>
            <a:ext cx="201168" cy="201168"/>
          </a:xfrm>
          <a:prstGeom prst="ellipse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71800" y="16733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3236976" y="16550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填写学员、课程模板、上课时间；周期课额外填重复周数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971800" y="2075688"/>
            <a:ext cx="201168" cy="201168"/>
          </a:xfrm>
          <a:prstGeom prst="ellipse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971800" y="20756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3236976" y="2057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点击课程卡片进入详情，操作签到 / 缺席 / 取消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971800" y="2478024"/>
            <a:ext cx="201168" cy="201168"/>
          </a:xfrm>
          <a:prstGeom prst="ellipse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71800" y="24780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3236976" y="245973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签到后自动扣除课时包，课时不足时推送提醒给学员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834640" y="3108960"/>
            <a:ext cx="6035040" cy="274320"/>
          </a:xfrm>
          <a:prstGeom prst="roundRect">
            <a:avLst>
              <a:gd name="adj" fmla="val 16667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834640" y="31089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课程状态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2834640" y="33832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971800" y="3474720"/>
            <a:ext cx="1234440" cy="201168"/>
          </a:xfrm>
          <a:prstGeom prst="roundRect">
            <a:avLst>
              <a:gd name="adj" fmla="val 27273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971800" y="347472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待上课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416552" y="3474720"/>
            <a:ext cx="1234440" cy="201168"/>
          </a:xfrm>
          <a:prstGeom prst="roundRect">
            <a:avLst>
              <a:gd name="adj" fmla="val 27273"/>
            </a:avLst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16552" y="347472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已完成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5861304" y="3474720"/>
            <a:ext cx="1234440" cy="201168"/>
          </a:xfrm>
          <a:prstGeom prst="roundRect">
            <a:avLst>
              <a:gd name="adj" fmla="val 27273"/>
            </a:avLst>
          </a:prstGeom>
          <a:solidFill>
            <a:srgbClr val="FAAD14"/>
          </a:solidFill>
          <a:ln w="12700">
            <a:solidFill>
              <a:srgbClr val="FAAD1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861304" y="347472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缺席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7306056" y="3474720"/>
            <a:ext cx="1234440" cy="201168"/>
          </a:xfrm>
          <a:prstGeom prst="roundRect">
            <a:avLst>
              <a:gd name="adj" fmla="val 27273"/>
            </a:avLst>
          </a:prstGeom>
          <a:solidFill>
            <a:srgbClr val="FF4D4F"/>
          </a:solidFill>
          <a:ln w="12700">
            <a:solidFill>
              <a:srgbClr val="FF4D4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306056" y="347472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已取消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34640" y="201168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8A"/>
                </a:solidFill>
              </a:rPr>
              <a:t>老师端 · 学员详情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34640" y="566928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管理学员课时包、查看上课历史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274320"/>
            <a:ext cx="2011680" cy="438912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54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274320"/>
            <a:ext cx="2011680" cy="50292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3108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小红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5486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ACCEE"/>
                </a:solidFill>
              </a:rPr>
              <a:t>学员详情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47472" y="841248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896112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手机号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33272" y="896112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33333"/>
                </a:solidFill>
              </a:rPr>
              <a:t>138****5678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20624" y="1097280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课程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033272" y="1097280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33333"/>
                </a:solidFill>
              </a:rPr>
              <a:t>考级班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47472" y="1389888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EBF5FF"/>
          </a:solidFill>
          <a:ln w="12700">
            <a:solidFill>
              <a:srgbClr val="EBF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42646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8A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7472" y="1773936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剩余课时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47472" y="2048256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</a:rPr>
              <a:t>上课历史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20624" y="22677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</a:rPr>
              <a:t>考级班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20624" y="2432304"/>
            <a:ext cx="914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8"/>
                </a:solidFill>
              </a:rPr>
              <a:t>04-10  15:00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1627632" y="230428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4D4F"/>
                </a:solidFill>
              </a:rPr>
              <a:t>-1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47472" y="2670048"/>
            <a:ext cx="1828800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27249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</a:rPr>
              <a:t>考级班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20624" y="2889504"/>
            <a:ext cx="914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8"/>
                </a:solidFill>
              </a:rPr>
              <a:t>04-03  15:00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1627632" y="276148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4D4F"/>
                </a:solidFill>
              </a:rPr>
              <a:t>-1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47472" y="3127248"/>
            <a:ext cx="1828800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31821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</a:rPr>
              <a:t>考级班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20624" y="3346704"/>
            <a:ext cx="914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8"/>
                </a:solidFill>
              </a:rPr>
              <a:t>03-27  15:00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1627632" y="321868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4D4F"/>
                </a:solidFill>
              </a:rPr>
              <a:t>-1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56032" y="473659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老师端 · 学员详情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834640" y="868680"/>
            <a:ext cx="2834640" cy="274320"/>
          </a:xfrm>
          <a:prstGeom prst="roundRect">
            <a:avLst>
              <a:gd name="adj" fmla="val 16667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0" y="868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老师端 · 学员详情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834640" y="1143000"/>
            <a:ext cx="28346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71800" y="12527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· 基本信息（姓名/手机号）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97180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· 剩余课时（大号数字突出展示）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971800" y="19476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· 课时包列表（新增/编辑）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971800" y="2295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· 上课历史记录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852160" y="868680"/>
            <a:ext cx="2834640" cy="274320"/>
          </a:xfrm>
          <a:prstGeom prst="roundRect">
            <a:avLst>
              <a:gd name="adj" fmla="val 16667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0" y="868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学员端 · 课时页面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852160" y="1143000"/>
            <a:ext cx="28346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89320" y="12527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· 剩余课时展示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98932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· 课时包详情（总量/剩余/到期日）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989320" y="19476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· 扣课时历史记录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834640" y="2834640"/>
            <a:ext cx="6035040" cy="274320"/>
          </a:xfrm>
          <a:prstGeom prst="roundRect">
            <a:avLst>
              <a:gd name="adj" fmla="val 16667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4640" y="28346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课时不足提醒触发逻辑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834640" y="3108960"/>
            <a:ext cx="6035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71800" y="32004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8A"/>
                </a:solidFill>
              </a:rPr>
              <a:t>签到完成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  →  扣课时  →  </a:t>
            </a:r>
            <a:pPr indent="0" marL="0">
              <a:buNone/>
            </a:pPr>
            <a:r>
              <a:rPr lang="en-US" sz="900" b="1" dirty="0">
                <a:solidFill>
                  <a:srgbClr val="FF4D4F"/>
                </a:solidFill>
              </a:rPr>
              <a:t>剩余 ≤ 阈值（默认3节）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  →  微信订阅消息推送给学员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97680" y="2011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8A"/>
                </a:solidFill>
              </a:rPr>
              <a:t>学员端页面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297680" y="5669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学员登录后的只读视角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274320"/>
            <a:ext cx="1828800" cy="43891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274320"/>
            <a:ext cx="1828800" cy="50292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3108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我的课表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548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ACCEE"/>
                </a:solidFill>
              </a:rPr>
              <a:t>学员视角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47472" y="841248"/>
            <a:ext cx="1645920" cy="594360"/>
          </a:xfrm>
          <a:prstGeom prst="roundRect">
            <a:avLst>
              <a:gd name="adj" fmla="val 9231"/>
            </a:avLst>
          </a:prstGeom>
          <a:solidFill>
            <a:srgbClr val="EBF5FF"/>
          </a:solidFill>
          <a:ln w="12700">
            <a:solidFill>
              <a:srgbClr val="EBF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85953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8A"/>
                </a:solidFill>
              </a:rPr>
              <a:t>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7472" y="117043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</a:rPr>
              <a:t>剩余课时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1124712" y="102412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888888"/>
                </a:solidFill>
              </a:rPr>
              <a:t>到期：2024-12-31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347472" y="1536192"/>
            <a:ext cx="36576" cy="36576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1536192"/>
            <a:ext cx="1609344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572768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</a:rPr>
              <a:t>钢琴基础 · 周四 18:00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1737360"/>
            <a:ext cx="1417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8"/>
                </a:solidFill>
              </a:rPr>
              <a:t>下次：2024-04-11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347472" y="2048256"/>
            <a:ext cx="36576" cy="36576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2048256"/>
            <a:ext cx="1609344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084832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</a:rPr>
              <a:t>考级班 · 周六 10:00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57200" y="2249424"/>
            <a:ext cx="1417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8"/>
                </a:solidFill>
              </a:rPr>
              <a:t>下次：2024-04-13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256032" y="425196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4306824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4480560"/>
            <a:ext cx="320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C5F8A"/>
                </a:solidFill>
              </a:rPr>
              <a:t>课表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804672" y="4306824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4480560"/>
            <a:ext cx="320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课时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1261872" y="4306824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43584" y="4480560"/>
            <a:ext cx="320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通知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1719072" y="4306824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00784" y="4480560"/>
            <a:ext cx="320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我的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256032" y="473659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学员端 · 课表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331720" y="274320"/>
            <a:ext cx="1828800" cy="43891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31720" y="274320"/>
            <a:ext cx="1828800" cy="50292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31720" y="3108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通知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331720" y="548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ACCEE"/>
                </a:solidFill>
              </a:rPr>
              <a:t>机构消息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423160" y="868680"/>
            <a:ext cx="16459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22776" y="960120"/>
            <a:ext cx="109728" cy="109728"/>
          </a:xfrm>
          <a:prstGeom prst="ellipse">
            <a:avLst/>
          </a:prstGeom>
          <a:solidFill>
            <a:srgbClr val="FF4D4F"/>
          </a:solidFill>
          <a:ln w="12700">
            <a:solidFill>
              <a:srgbClr val="FF4D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96312" y="9418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</a:rPr>
              <a:t>五一放假通知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496312" y="1143000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8"/>
                </a:solidFill>
              </a:rPr>
              <a:t>04-10  · 星光钢琴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2423160" y="1490472"/>
            <a:ext cx="16459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96312" y="156362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</a:rPr>
              <a:t>课时不足提醒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496312" y="1764792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8"/>
                </a:solidFill>
              </a:rPr>
              <a:t>04-08  · 系统消息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2423160" y="2112264"/>
            <a:ext cx="16459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96312" y="218541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</a:rPr>
              <a:t>上课提醒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496312" y="2386584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8"/>
                </a:solidFill>
              </a:rPr>
              <a:t>04-07  · 系统消息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2331720" y="425196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23160" y="4306824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04872" y="4480560"/>
            <a:ext cx="320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课表</a:t>
            </a:r>
            <a:endParaRPr lang="en-US" sz="550" dirty="0"/>
          </a:p>
        </p:txBody>
      </p:sp>
      <p:sp>
        <p:nvSpPr>
          <p:cNvPr id="48" name="Shape 46"/>
          <p:cNvSpPr/>
          <p:nvPr/>
        </p:nvSpPr>
        <p:spPr>
          <a:xfrm>
            <a:off x="2880360" y="4306824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62072" y="4480560"/>
            <a:ext cx="320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课时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3337560" y="4306824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19272" y="4480560"/>
            <a:ext cx="320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C5F8A"/>
                </a:solidFill>
              </a:rPr>
              <a:t>通知</a:t>
            </a:r>
            <a:endParaRPr lang="en-US" sz="550" dirty="0"/>
          </a:p>
        </p:txBody>
      </p:sp>
      <p:sp>
        <p:nvSpPr>
          <p:cNvPr id="52" name="Shape 50"/>
          <p:cNvSpPr/>
          <p:nvPr/>
        </p:nvSpPr>
        <p:spPr>
          <a:xfrm>
            <a:off x="3794760" y="4306824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76472" y="4480560"/>
            <a:ext cx="320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</a:rPr>
              <a:t>我的</a:t>
            </a:r>
            <a:endParaRPr lang="en-US" sz="550" dirty="0"/>
          </a:p>
        </p:txBody>
      </p:sp>
      <p:sp>
        <p:nvSpPr>
          <p:cNvPr id="54" name="Text 52"/>
          <p:cNvSpPr/>
          <p:nvPr/>
        </p:nvSpPr>
        <p:spPr>
          <a:xfrm>
            <a:off x="2331720" y="473659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学员端 · 通知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343400" y="868680"/>
            <a:ext cx="4526280" cy="274320"/>
          </a:xfrm>
          <a:prstGeom prst="roundRect">
            <a:avLst>
              <a:gd name="adj" fmla="val 16667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43400" y="8686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TabBar 结构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343400" y="1143000"/>
            <a:ext cx="45262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80560" y="1170432"/>
            <a:ext cx="4251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课表  ·  课时  ·  通知  ·  我的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343400" y="1581912"/>
            <a:ext cx="4526280" cy="274320"/>
          </a:xfrm>
          <a:prstGeom prst="roundRect">
            <a:avLst>
              <a:gd name="adj" fmla="val 16667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4340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各页面功能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343400" y="1856232"/>
            <a:ext cx="45262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80560" y="19476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8A"/>
                </a:solidFill>
              </a:rPr>
              <a:t>课表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480560" y="218541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</a:rPr>
              <a:t>· 剩余课时 + 到期日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480560" y="24780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</a:rPr>
              <a:t>· 即将上课的课程列表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5559552" y="19476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8A"/>
                </a:solidFill>
              </a:rPr>
              <a:t>课时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559552" y="218541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</a:rPr>
              <a:t>· 课时包详情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5559552" y="24780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</a:rPr>
              <a:t>· 扣课时历史记录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638544" y="19476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8A"/>
                </a:solidFill>
              </a:rPr>
              <a:t>通知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638544" y="218541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</a:rPr>
              <a:t>· 机构公告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6638544" y="24780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</a:rPr>
              <a:t>· 系统自动提醒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638544" y="277063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</a:rPr>
              <a:t>· 未读红点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7717536" y="19476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8A"/>
                </a:solidFill>
              </a:rPr>
              <a:t>我的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717536" y="218541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</a:rPr>
              <a:t>· 个人信息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7717536" y="24780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</a:rPr>
              <a:t>· 修改密码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钢琴机构管理App - 页面线框图</dc:title>
  <dc:subject>PptxGenJS Presentation</dc:subject>
  <dc:creator>PptxGenJS</dc:creator>
  <cp:lastModifiedBy>PptxGenJS</cp:lastModifiedBy>
  <cp:revision>1</cp:revision>
  <dcterms:created xsi:type="dcterms:W3CDTF">2026-04-11T12:21:25Z</dcterms:created>
  <dcterms:modified xsi:type="dcterms:W3CDTF">2026-04-11T12:21:25Z</dcterms:modified>
</cp:coreProperties>
</file>